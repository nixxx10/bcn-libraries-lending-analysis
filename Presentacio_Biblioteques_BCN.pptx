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AAD653-9C63-44F9-A3F2-2419B64191C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Radiografia del préstec bibliotecari a Barcelona i la seva relació amb el territori i la demografia.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34DB23-D1EA-4731-8E91-EE4EDCF901B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no haver-hi títol ni gènere, el projecte vira al quantitatiu per districtes. Tres preguntes guien l'estudi.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671D49-6589-40C9-BBCF-B0FD731135C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catàleg és de xarxa (oferta líquida). Això desplaça el focus a la demanda. Equivalència que matisarem amb Ciutat Vella.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8B345A-6F1E-402D-BA68-A4FF1C9AE33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Declivi estructural i anterior a la pandèmia. No s'explica per tancaments ni pel digital.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CDEEE8-6D6B-452B-B640-A8528185884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Renda real (2019) vs préstec/hab. Cap relació fiable: l'interval creua el zero.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62E01B-2447-4DBF-8B2B-98DBC6AB15F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Cap variable demogràfica explica el préstec. % estrangera és contradictori i el dibuixa Ciutat Vella sol (captació). Obre el gir cap als atípics.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DC2D4A-8517-4C4B-ADE1-A76DA497E02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~la meitat de m²/hab. No és falta d'equipaments, és falta d'espai. Primera intuïció: l'espai.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02D1B6-4F82-4643-8DF3-CC773DAF7A5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m²/hab vs préstec: Pearson +0,88, robust. Únic factor que aguanta. El mapa: m² i préstec comparteixen patró. Ciutat Vella, més préstec que m² (captació).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A3D89E-58E8-41C7-89AB-25D1FAB515A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L'espai genera demanda. Els m² es poden decidir; la renda no. El que compta no és el nombre de biblioteques sinó els m² de qualitat.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B17CE1-7866-47F2-99CA-46CC0DE5072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plans: metodològiques (com) i de tesi (què). La gran: l'espai físic mou el préstec.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5AD866-FEF7-4947-AD43-42BB5B070BC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48DC761-B191-4310-8476-7CCEFA7F34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E91858-BB0E-46AE-84AC-3BC60C9D961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211EDBC-965D-4979-B321-28A406CD972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66E0ADA-9A5E-4F72-B3FA-4E8503939C9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D2F3FF-DA38-4A0A-B892-E44FD5C591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6258C5-8CC2-4515-BFF7-F98A6BE717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7AD0ACC-85B5-44F8-9341-519A8006716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7100C9-155C-4474-8A0E-103BC4AB64D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D71A02E-7499-4CF1-9D84-8CBA61B2E2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4532C0D-75A5-496E-9E5C-36CCAAAB36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168727E-95B1-4B06-A06E-56C8C5E8E0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" descr="bg_hero.png"/>
          <p:cNvPicPr/>
          <p:nvPr/>
        </p:nvPicPr>
        <p:blipFill>
          <a:blip r:embed="rId1"/>
          <a:stretch/>
        </p:blipFill>
        <p:spPr>
          <a:xfrm>
            <a:off x="0" y="-143280"/>
            <a:ext cx="12597840" cy="70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2"/>
          <p:cNvSpPr/>
          <p:nvPr/>
        </p:nvSpPr>
        <p:spPr>
          <a:xfrm>
            <a:off x="458280" y="3211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PROJECTE FINAL · BOOTCAMP D'ANALÍTICA DE DADES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412560" y="759600"/>
            <a:ext cx="11931840" cy="18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Com una biblioteca corba l’espai-temps: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40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Performance de la xarxa de biblioteques a la ciutat de Barcelona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914400" y="6187680"/>
            <a:ext cx="100573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8a95a6"/>
                </a:solidFill>
                <a:effectLst/>
                <a:uFillTx/>
                <a:latin typeface="Calibri"/>
              </a:rPr>
              <a:t>Nizar El Ouarma Sorribas ·  2026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2"/>
          <a:srcRect l="0" t="18202" r="0" b="0"/>
          <a:stretch/>
        </p:blipFill>
        <p:spPr>
          <a:xfrm>
            <a:off x="2460240" y="3200400"/>
            <a:ext cx="7405560" cy="23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bg_content.png"/>
          <p:cNvPicPr/>
          <p:nvPr/>
        </p:nvPicPr>
        <p:blipFill>
          <a:blip r:embed="rId1"/>
          <a:stretch/>
        </p:blipFill>
        <p:spPr>
          <a:xfrm>
            <a:off x="0" y="0"/>
            <a:ext cx="12343680" cy="70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2"/>
          <p:cNvSpPr/>
          <p:nvPr/>
        </p:nvSpPr>
        <p:spPr>
          <a:xfrm>
            <a:off x="685800" y="502920"/>
            <a:ext cx="10057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DIAPO 2 · INTRODUCCIÓ I OBJECTIUS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685800" y="868680"/>
            <a:ext cx="10788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Introducció i objectius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685800" y="1828800"/>
            <a:ext cx="1069740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1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Objectiu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: radiografiar els hàbits de lectura a la ciutat de Barcelona a través del préstec presencial a la xarxa de biblioteques públiques de la ciutat (Open Data BCN). Com que només hi ha préstecs presencials —ni títol ni gènere—, l'enfocament és quantitatiu.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L’anàlisis es fa per districtes ja que hi ha barris que no disposen de biblioteques.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S'hi incorporen la renda i variables demogràfiques: % gent gran, % jove i % estrangera.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685800" y="3899880"/>
            <a:ext cx="10697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01" strike="noStrike" u="none">
                <a:solidFill>
                  <a:srgbClr val="ffd36e"/>
                </a:solidFill>
                <a:effectLst/>
                <a:uFillTx/>
                <a:latin typeface="Calibri"/>
              </a:rPr>
              <a:t>PREGUNTES D'INVESTIGACIÓ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685800" y="4184640"/>
            <a:ext cx="10697400" cy="10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00" strike="noStrike" u="none">
                <a:solidFill>
                  <a:srgbClr val="ffd36e"/>
                </a:solidFill>
                <a:effectLst/>
                <a:uFillTx/>
                <a:latin typeface="Calibri"/>
              </a:rPr>
              <a:t>● 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Com ha evolucionat el préstec presencial al llarg del temps?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00" strike="noStrike" u="none">
                <a:solidFill>
                  <a:srgbClr val="ffd36e"/>
                </a:solidFill>
                <a:effectLst/>
                <a:uFillTx/>
                <a:latin typeface="Calibri"/>
              </a:rPr>
              <a:t>● 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Una renda més alta es correlaciona amb un ús més intensiu del préstec?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00" strike="noStrike" u="none">
                <a:solidFill>
                  <a:srgbClr val="ffd36e"/>
                </a:solidFill>
                <a:effectLst/>
                <a:uFillTx/>
                <a:latin typeface="Calibri"/>
              </a:rPr>
              <a:t>● 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La demografia (edat i origen) explica el consum de llibres via préstec?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" descr="bg_content.png"/>
          <p:cNvPicPr/>
          <p:nvPr/>
        </p:nvPicPr>
        <p:blipFill>
          <a:blip r:embed="rId1"/>
          <a:stretch/>
        </p:blipFill>
        <p:spPr>
          <a:xfrm>
            <a:off x="0" y="-201240"/>
            <a:ext cx="12343680" cy="70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2"/>
          <p:cNvSpPr/>
          <p:nvPr/>
        </p:nvSpPr>
        <p:spPr>
          <a:xfrm>
            <a:off x="685800" y="502920"/>
            <a:ext cx="10057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9d8cff"/>
                </a:solidFill>
                <a:effectLst/>
                <a:uFillTx/>
                <a:latin typeface="Calibri"/>
              </a:rPr>
              <a:t>DIAPO 3 · OFERTA VS DEMANDA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685800" y="868680"/>
            <a:ext cx="10788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Oferta líquida: per què estudiem la demanda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685800" y="1812240"/>
            <a:ext cx="10605960" cy="13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5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65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El préstec interbibliotecari permet demanar qualsevol llibre de tota la xarxa, gratuïtament: el catàleg és comú.Per tant, l'oferta documental d'un districte no és la seva, sinó la de tota la Xarxa de Biblioteques de Barcelona.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5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65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Si l'oferta és comuna, el préstec realitzat reflecteix la demanda —</a:t>
            </a:r>
            <a:r>
              <a:rPr b="1" lang="en-US" sz="1650" strike="noStrike" u="sng">
                <a:solidFill>
                  <a:srgbClr val="ced6e2"/>
                </a:solidFill>
                <a:effectLst/>
                <a:uFillTx/>
                <a:latin typeface="Calibri"/>
              </a:rPr>
              <a:t>el comportament lector de la població.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5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65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… Però estava equivocat!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8440200" y="3505320"/>
            <a:ext cx="3446280" cy="312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3"/>
          <a:stretch/>
        </p:blipFill>
        <p:spPr>
          <a:xfrm>
            <a:off x="685800" y="3772440"/>
            <a:ext cx="7149240" cy="285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" descr="bg_content.png"/>
          <p:cNvPicPr/>
          <p:nvPr/>
        </p:nvPicPr>
        <p:blipFill>
          <a:blip r:embed="rId1"/>
          <a:stretch/>
        </p:blipFill>
        <p:spPr>
          <a:xfrm>
            <a:off x="-75600" y="360"/>
            <a:ext cx="12419280" cy="70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2"/>
          <p:cNvSpPr/>
          <p:nvPr/>
        </p:nvSpPr>
        <p:spPr>
          <a:xfrm>
            <a:off x="685800" y="5029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DIAPO 4 · PI1 — EVOLUCIÓ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685800" y="868680"/>
            <a:ext cx="1078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Com ha evolucionat el préstec presencial? (PI1)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457560" y="1828800"/>
            <a:ext cx="5028120" cy="29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5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65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Declivi sostingut: ~30% menys des de 2011, i ja abans de la pandèmia.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5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</a:t>
            </a:r>
            <a:r>
              <a:rPr b="0" lang="en-US" sz="165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Els districtes amb més qtt de préstecs abans de la pandemia es veuen més afectats, pero el declivi el generalitzat a tots els districtes de la ciutat.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5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65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No és un retall de la xarxa: el nombre de biblioteques és constant entre 37 i 40.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65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65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Tampoc és el digital: el préstec virtual és 10× menor i no apareix fins al 2020. 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6" descr="pi1_evolucio.png"/>
          <p:cNvPicPr/>
          <p:nvPr/>
        </p:nvPicPr>
        <p:blipFill>
          <a:blip r:embed="rId2"/>
          <a:stretch/>
        </p:blipFill>
        <p:spPr>
          <a:xfrm>
            <a:off x="6039000" y="2057400"/>
            <a:ext cx="5618880" cy="342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3"/>
          <a:stretch/>
        </p:blipFill>
        <p:spPr>
          <a:xfrm>
            <a:off x="457200" y="4273200"/>
            <a:ext cx="5257080" cy="212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bg_content.png"/>
          <p:cNvPicPr/>
          <p:nvPr/>
        </p:nvPicPr>
        <p:blipFill>
          <a:blip r:embed="rId1"/>
          <a:stretch/>
        </p:blipFill>
        <p:spPr>
          <a:xfrm>
            <a:off x="0" y="0"/>
            <a:ext cx="12343320" cy="70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2"/>
          <p:cNvSpPr/>
          <p:nvPr/>
        </p:nvSpPr>
        <p:spPr>
          <a:xfrm>
            <a:off x="685800" y="5029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ec866c"/>
                </a:solidFill>
                <a:effectLst/>
                <a:uFillTx/>
                <a:latin typeface="Calibri"/>
              </a:rPr>
              <a:t>DIAPO 5 · PI2 — RENDA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85800" y="868680"/>
            <a:ext cx="1078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  <a:ea typeface="Microsoft YaHei"/>
              </a:rPr>
              <a:t>La renda pot explicar el préstec? (PI2)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85800" y="1744200"/>
            <a:ext cx="4570920" cy="9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trike="noStrike" u="none">
                <a:solidFill>
                  <a:srgbClr val="ec866c"/>
                </a:solidFill>
                <a:effectLst/>
                <a:uFillTx/>
                <a:latin typeface="Georgia"/>
              </a:rPr>
              <a:t>r = −0,22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8a95a6"/>
                </a:solidFill>
                <a:effectLst/>
                <a:uFillTx/>
                <a:latin typeface="Calibri"/>
              </a:rPr>
              <a:t>Pearson · IC95% · creua el zero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228600" y="3752640"/>
            <a:ext cx="5028120" cy="19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55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</a:t>
            </a: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Cap relació fiable; si de cas, lleugerament inversa.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 Dos valors atípics, Ciutat Vella i Sarrià.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El més ric (Sarrià) presta poc; un dels humils (Ciutat Vella), molt.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277560" y="2999160"/>
            <a:ext cx="6856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2000" strike="noStrike" u="none">
                <a:solidFill>
                  <a:srgbClr val="9d8cff"/>
                </a:solidFill>
                <a:effectLst/>
                <a:uFillTx/>
                <a:latin typeface="Calibri"/>
              </a:rPr>
              <a:t>Pearson · Spearman · bootstrap de conglomerats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8" descr="renta_n70.png"/>
          <p:cNvPicPr/>
          <p:nvPr/>
        </p:nvPicPr>
        <p:blipFill>
          <a:blip r:embed="rId2"/>
          <a:stretch/>
        </p:blipFill>
        <p:spPr>
          <a:xfrm>
            <a:off x="5989320" y="1948680"/>
            <a:ext cx="5576760" cy="376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bg_content.png"/>
          <p:cNvPicPr/>
          <p:nvPr/>
        </p:nvPicPr>
        <p:blipFill>
          <a:blip r:embed="rId1"/>
          <a:stretch/>
        </p:blipFill>
        <p:spPr>
          <a:xfrm>
            <a:off x="0" y="0"/>
            <a:ext cx="12343680" cy="69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2"/>
          <p:cNvSpPr/>
          <p:nvPr/>
        </p:nvSpPr>
        <p:spPr>
          <a:xfrm>
            <a:off x="685800" y="5029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ec866c"/>
                </a:solidFill>
                <a:effectLst/>
                <a:uFillTx/>
                <a:latin typeface="Calibri"/>
              </a:rPr>
              <a:t>DIAPO 6 · PI3 — DEMOGRAFIA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685800" y="868680"/>
            <a:ext cx="1078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  <a:ea typeface="Microsoft YaHei"/>
              </a:rPr>
              <a:t>La demografia explica el préstec?(PI3)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685800" y="1737360"/>
            <a:ext cx="1097172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499"/>
              </a:spcAft>
            </a:pPr>
            <a:r>
              <a:rPr b="1" lang="en-US" sz="16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Ni edat ni origen expliquen el préstec: tots els intervals creuen el zero.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99"/>
              </a:spcAft>
            </a:pPr>
            <a:r>
              <a:rPr b="1" lang="en-US" sz="16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L'únic indici interessant el dibuixa un sol districte, Ciutat Vella (% estrangera) — efecte captació, sentit comú.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99"/>
              </a:spcAft>
            </a:pPr>
            <a:r>
              <a:rPr b="1" lang="en-US" sz="16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Aquesta anomalia em va fer pivotar de un focus de mitjes i de correlacions a un focus d’anàlisis profund dels </a:t>
            </a:r>
            <a:r>
              <a:rPr b="1" lang="en-US" sz="16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valors atípics</a:t>
            </a:r>
            <a:r>
              <a:rPr b="0" lang="en-US" sz="16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97" descr="demografia_n70.png"/>
          <p:cNvPicPr/>
          <p:nvPr/>
        </p:nvPicPr>
        <p:blipFill>
          <a:blip r:embed="rId2"/>
          <a:stretch/>
        </p:blipFill>
        <p:spPr>
          <a:xfrm>
            <a:off x="1091520" y="2971800"/>
            <a:ext cx="9977400" cy="351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bg_content.png"/>
          <p:cNvPicPr/>
          <p:nvPr/>
        </p:nvPicPr>
        <p:blipFill>
          <a:blip r:embed="rId1"/>
          <a:stretch/>
        </p:blipFill>
        <p:spPr>
          <a:xfrm>
            <a:off x="0" y="0"/>
            <a:ext cx="12343320" cy="69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2"/>
          <p:cNvSpPr/>
          <p:nvPr/>
        </p:nvSpPr>
        <p:spPr>
          <a:xfrm>
            <a:off x="685800" y="5029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ffd36e"/>
                </a:solidFill>
                <a:effectLst/>
                <a:uFillTx/>
                <a:latin typeface="Calibri"/>
              </a:rPr>
              <a:t>DIAPO 7 · EL GIR — ELS ATÍPICS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85800" y="868680"/>
            <a:ext cx="10788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Sarrià: el ric que llegeix poc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685800" y="1965960"/>
            <a:ext cx="5028120" cy="35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22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22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El districte més ric de Barcelona… i el que menys presta. Massa contraintuitiu.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22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22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Té gairebé la meitat de m² de biblioteca per habitant que la mitjana.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22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22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No li falten biblioteques: les que té són petites.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22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22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I si això passa a nivell de ciutat?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6" descr="sarria_deficit.png"/>
          <p:cNvPicPr/>
          <p:nvPr/>
        </p:nvPicPr>
        <p:blipFill>
          <a:blip r:embed="rId2"/>
          <a:stretch/>
        </p:blipFill>
        <p:spPr>
          <a:xfrm>
            <a:off x="6391800" y="1572840"/>
            <a:ext cx="4919400" cy="306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456840" y="4572000"/>
            <a:ext cx="5257080" cy="212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5943600" y="5029200"/>
            <a:ext cx="1370880" cy="456480"/>
          </a:xfrm>
          <a:prstGeom prst="leftArrow">
            <a:avLst>
              <a:gd name="adj1" fmla="val 30134"/>
              <a:gd name="adj2" fmla="val 7305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"/>
          <p:cNvSpPr/>
          <p:nvPr/>
        </p:nvSpPr>
        <p:spPr>
          <a:xfrm>
            <a:off x="7543800" y="5137200"/>
            <a:ext cx="22852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Sarrià – Sant Gervasi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 descr="bg_content.png"/>
          <p:cNvPicPr/>
          <p:nvPr/>
        </p:nvPicPr>
        <p:blipFill>
          <a:blip r:embed="rId1"/>
          <a:stretch/>
        </p:blipFill>
        <p:spPr>
          <a:xfrm>
            <a:off x="360" y="360"/>
            <a:ext cx="121906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2"/>
          <p:cNvSpPr/>
          <p:nvPr/>
        </p:nvSpPr>
        <p:spPr>
          <a:xfrm>
            <a:off x="685800" y="5029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DIAPO 8 · LA TROBALLA — L'ESPAI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85800" y="868680"/>
            <a:ext cx="113374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I si el que mou el préstec és l'espai? El m² a tota Barcelona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Table 4"/>
          <p:cNvGraphicFramePr/>
          <p:nvPr/>
        </p:nvGraphicFramePr>
        <p:xfrm>
          <a:off x="870120" y="1884960"/>
          <a:ext cx="4525920" cy="1297800"/>
        </p:xfrm>
        <a:graphic>
          <a:graphicData uri="http://schemas.openxmlformats.org/drawingml/2006/table">
            <a:tbl>
              <a:tblPr/>
              <a:tblGrid>
                <a:gridCol w="724320"/>
                <a:gridCol w="1358280"/>
                <a:gridCol w="724320"/>
                <a:gridCol w="1719360"/>
              </a:tblGrid>
              <a:tr h="237960"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ecdd"/>
                          </a:solidFill>
                          <a:effectLst/>
                          <a:uFillTx/>
                          <a:latin typeface="Calibri"/>
                        </a:rPr>
                        <a:t>Factor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323d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ecdd"/>
                          </a:solidFill>
                          <a:effectLst/>
                          <a:uFillTx/>
                          <a:latin typeface="Calibri"/>
                        </a:rPr>
                        <a:t>Variable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323d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ecdd"/>
                          </a:solidFill>
                          <a:effectLst/>
                          <a:uFillTx/>
                          <a:latin typeface="Calibri"/>
                        </a:rPr>
                        <a:t>Correlació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323d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ecdd"/>
                          </a:solidFill>
                          <a:effectLst/>
                          <a:uFillTx/>
                          <a:latin typeface="Calibri"/>
                        </a:rPr>
                        <a:t>Test robust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323d"/>
                    </a:solidFill>
                  </a:tcPr>
                </a:tc>
              </a:tr>
              <a:tr h="216000"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Demanda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Renda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−0,22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IC creua el zero → res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</a:tr>
              <a:tr h="237960"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Demanda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Demografia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≈ 0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IC creua el zero → res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</a:tr>
              <a:tr h="237960"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Oferta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Fons documental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+0,53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ced6e2"/>
                          </a:solidFill>
                          <a:effectLst/>
                          <a:uFillTx/>
                          <a:latin typeface="Calibri"/>
                        </a:rPr>
                        <a:t>IC creua el zero → incert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628"/>
                    </a:solidFill>
                  </a:tcPr>
                </a:tc>
              </a:tr>
              <a:tr h="236880"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3ed0c0"/>
                          </a:solidFill>
                          <a:effectLst/>
                          <a:uFillTx/>
                          <a:latin typeface="Calibri"/>
                        </a:rPr>
                        <a:t>Oferta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23a35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3ed0c0"/>
                          </a:solidFill>
                          <a:effectLst/>
                          <a:uFillTx/>
                          <a:latin typeface="Calibri"/>
                        </a:rPr>
                        <a:t>m² / habitant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23a35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3ed0c0"/>
                          </a:solidFill>
                          <a:effectLst/>
                          <a:uFillTx/>
                          <a:latin typeface="Calibri"/>
                        </a:rPr>
                        <a:t>+0,88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23a35"/>
                    </a:solidFill>
                  </a:tcPr>
                </a:tc>
                <a:tc>
                  <a:txBody>
                    <a:bodyPr lIns="82080" rIns="4572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3ed0c0"/>
                          </a:solidFill>
                          <a:effectLst/>
                          <a:uFillTx/>
                          <a:latin typeface="Calibri"/>
                        </a:rPr>
                        <a:t>IC lluny del zero → SÍ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23a35"/>
                    </a:solidFill>
                  </a:tcPr>
                </a:tc>
              </a:tr>
            </a:tbl>
          </a:graphicData>
        </a:graphic>
      </p:graphicFrame>
      <p:pic>
        <p:nvPicPr>
          <p:cNvPr id="112" name="Picture 6" descr="comparativa_biblio_m2.png"/>
          <p:cNvPicPr/>
          <p:nvPr/>
        </p:nvPicPr>
        <p:blipFill>
          <a:blip r:embed="rId2"/>
          <a:stretch/>
        </p:blipFill>
        <p:spPr>
          <a:xfrm>
            <a:off x="410760" y="3429000"/>
            <a:ext cx="5532120" cy="211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7" descr="mapa_m2_vs_prestec.png"/>
          <p:cNvPicPr/>
          <p:nvPr/>
        </p:nvPicPr>
        <p:blipFill>
          <a:blip r:embed="rId3"/>
          <a:stretch/>
        </p:blipFill>
        <p:spPr>
          <a:xfrm>
            <a:off x="6081120" y="1806480"/>
            <a:ext cx="5805360" cy="342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8"/>
          <p:cNvSpPr/>
          <p:nvPr/>
        </p:nvSpPr>
        <p:spPr>
          <a:xfrm>
            <a:off x="548640" y="5897880"/>
            <a:ext cx="1106316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i="1" lang="en-US" sz="1100" strike="noStrike" u="none">
                <a:solidFill>
                  <a:srgbClr val="8a95a6"/>
                </a:solidFill>
                <a:effectLst/>
                <a:uFillTx/>
                <a:latin typeface="Calibri"/>
              </a:rPr>
              <a:t>Nota de causalitat: amb dades observacionals no podem afirmar-la al 100%, però els indicis són clars en aquest cas concret —els m² són exògens (els decideix la planificació urbana, no la demanda) i són l’únic factor que supera el test robust.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bg_content.png"/>
          <p:cNvPicPr/>
          <p:nvPr/>
        </p:nvPicPr>
        <p:blipFill>
          <a:blip r:embed="rId1"/>
          <a:stretch/>
        </p:blipFill>
        <p:spPr>
          <a:xfrm>
            <a:off x="0" y="0"/>
            <a:ext cx="12343680" cy="70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2"/>
          <p:cNvSpPr/>
          <p:nvPr/>
        </p:nvSpPr>
        <p:spPr>
          <a:xfrm>
            <a:off x="685800" y="5029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ffd36e"/>
                </a:solidFill>
                <a:effectLst/>
                <a:uFillTx/>
                <a:latin typeface="Calibri"/>
              </a:rPr>
              <a:t>DIAPO 9 · IMPLICACIONS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85800" y="868680"/>
            <a:ext cx="10788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Implicacions: la lectura es pot construir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685800" y="1828800"/>
            <a:ext cx="5713920" cy="38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L'espai no acompanya la lectura: la genera.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Palanca de gestió pública: els m² es decideixen; la renda i la demografia, no.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Equitat: repartir espai és repartir hàbit lector, al marge de la riquesa.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</a:t>
            </a:r>
            <a:r>
              <a:rPr b="1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La recomanació no és abstracta: és on i perqué invertir.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Sarrià és la major oportunitat de millora de la ciutat, per cada m2 nou de biblioteca, major retorn en préstecs segons el nostre model.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El que de veritat compta no és el nombre de biblioteques, sinó els m² de qualitat per habitant.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6663600" y="1710000"/>
            <a:ext cx="4914000" cy="32997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2a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Picture 6" descr="biblioteca_alejandria.jpg"/>
          <p:cNvPicPr/>
          <p:nvPr/>
        </p:nvPicPr>
        <p:blipFill>
          <a:blip r:embed="rId2"/>
          <a:stretch/>
        </p:blipFill>
        <p:spPr>
          <a:xfrm>
            <a:off x="6629400" y="1710000"/>
            <a:ext cx="4985280" cy="329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7"/>
          <p:cNvSpPr/>
          <p:nvPr/>
        </p:nvSpPr>
        <p:spPr>
          <a:xfrm>
            <a:off x="6720840" y="5110920"/>
            <a:ext cx="479952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2000"/>
              </a:lnSpc>
            </a:pPr>
            <a:r>
              <a:rPr b="0" i="1" lang="en-US" sz="1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«Les biblioteques, al ocupar l’espai, corben la demanda al seu voltant —com la gravetat corba l'espai-temps.»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" descr="bg_content.png"/>
          <p:cNvPicPr/>
          <p:nvPr/>
        </p:nvPicPr>
        <p:blipFill>
          <a:blip r:embed="rId1"/>
          <a:stretch/>
        </p:blipFill>
        <p:spPr>
          <a:xfrm>
            <a:off x="0" y="-8640"/>
            <a:ext cx="123436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2"/>
          <p:cNvSpPr/>
          <p:nvPr/>
        </p:nvSpPr>
        <p:spPr>
          <a:xfrm>
            <a:off x="685800" y="5029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221" strike="noStrike" u="none">
                <a:solidFill>
                  <a:srgbClr val="9d8cff"/>
                </a:solidFill>
                <a:effectLst/>
                <a:uFillTx/>
                <a:latin typeface="Calibri"/>
              </a:rPr>
              <a:t>DIAPO 10 · CONCLUSIONS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85800" y="868680"/>
            <a:ext cx="10788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Conclusions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685800" y="1737360"/>
            <a:ext cx="51195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159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METODOLÒGIQUES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685800" y="2286000"/>
            <a:ext cx="5073840" cy="250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400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No donar cap supòsit per bo sense provar-lo (assumíem l'oferta constant).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 Està bé explorar amb intuició, però sense capficar-s’hi massa.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400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Les anomalies valen tant com les mitjanes: la senyal era als extrems.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400"/>
              </a:spcAft>
            </a:pPr>
            <a:r>
              <a:rPr b="1" lang="en-US" sz="1800" strike="noStrike" u="none">
                <a:solidFill>
                  <a:srgbClr val="3ed0c0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La robustesa canvia les conclusions: sense bootstrap, el fons hauria semblat real.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6263640" y="1610640"/>
            <a:ext cx="521100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159" strike="noStrike" u="none">
                <a:solidFill>
                  <a:srgbClr val="9d8cff"/>
                </a:solidFill>
                <a:effectLst/>
                <a:uFillTx/>
                <a:latin typeface="Calibri"/>
              </a:rPr>
              <a:t>DE TESI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6172200" y="2239920"/>
            <a:ext cx="5302440" cy="34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1301"/>
              </a:spcAft>
            </a:pPr>
            <a:r>
              <a:rPr b="1" lang="en-US" sz="1800" strike="noStrike" u="none">
                <a:solidFill>
                  <a:srgbClr val="9d8cff"/>
                </a:solidFill>
                <a:effectLst/>
                <a:uFillTx/>
                <a:latin typeface="Calibr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La renda no manté una relació fiable amb el préstec.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301"/>
              </a:spcAft>
            </a:pPr>
            <a:r>
              <a:rPr b="1" lang="en-US" sz="1800" strike="noStrike" u="none">
                <a:solidFill>
                  <a:srgbClr val="9d8cff"/>
                </a:solidFill>
                <a:effectLst/>
                <a:uFillTx/>
                <a:latin typeface="Calibr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</a:rPr>
              <a:t>La demografía tampoc l'explica.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301"/>
              </a:spcAft>
            </a:pPr>
            <a:r>
              <a:rPr b="1" lang="en-US" sz="1800" strike="noStrike" u="none">
                <a:solidFill>
                  <a:srgbClr val="9d8cff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El fons documental tampoc diferencia (oferta de llibres)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301"/>
              </a:spcAft>
            </a:pPr>
            <a:r>
              <a:rPr b="1" lang="en-US" sz="1800" strike="noStrike" u="none">
                <a:solidFill>
                  <a:srgbClr val="9d8cff"/>
                </a:solidFill>
                <a:effectLst/>
                <a:uFillTx/>
                <a:latin typeface="Calibri"/>
                <a:ea typeface="Microsoft YaHei"/>
              </a:rPr>
              <a:t>— C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ompta l'oferta física (l’espai).El que sí l'explica és l'espai (m²/hab): no l'acompanya, el genera.</a:t>
            </a:r>
            <a:r>
              <a:rPr b="1" lang="en-US" sz="1800" strike="noStrike" u="none">
                <a:solidFill>
                  <a:srgbClr val="9d8cff"/>
                </a:solidFill>
                <a:effectLst/>
                <a:uFillTx/>
                <a:latin typeface="Calibri"/>
                <a:ea typeface="Microsoft YaHei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301"/>
              </a:spcAft>
            </a:pPr>
            <a:r>
              <a:rPr b="1" lang="en-US" sz="1800" strike="noStrike" u="none">
                <a:solidFill>
                  <a:srgbClr val="9d8cff"/>
                </a:solidFill>
                <a:effectLst/>
                <a:uFillTx/>
                <a:latin typeface="Calibri"/>
                <a:ea typeface="Microsoft YaHei"/>
              </a:rPr>
              <a:t>—  </a:t>
            </a:r>
            <a:r>
              <a:rPr b="0" lang="en-US" sz="1800" strike="noStrike" u="none">
                <a:solidFill>
                  <a:srgbClr val="ced6e2"/>
                </a:solidFill>
                <a:effectLst/>
                <a:uFillTx/>
                <a:latin typeface="Calibri"/>
                <a:ea typeface="Microsoft YaHei"/>
              </a:rPr>
              <a:t>La caiguda del ~30% no s'explica pels m², queda com a pregunta oberta – probablement te arrels culturals més profundes.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2" descr="bg_content.png"/>
          <p:cNvPicPr/>
          <p:nvPr/>
        </p:nvPicPr>
        <p:blipFill>
          <a:blip r:embed="rId1"/>
          <a:stretch/>
        </p:blipFill>
        <p:spPr>
          <a:xfrm>
            <a:off x="720" y="-8280"/>
            <a:ext cx="12343680" cy="709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3886920" y="1143000"/>
            <a:ext cx="6857280" cy="24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300" strike="noStrike" u="none">
                <a:solidFill>
                  <a:srgbClr val="f2ecdd"/>
                </a:solidFill>
                <a:effectLst/>
                <a:uFillTx/>
                <a:latin typeface="Georgia"/>
              </a:rPr>
              <a:t>Alguna pregunta més?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1967040" y="2286000"/>
            <a:ext cx="8548560" cy="281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2026-06-17T23:27:48Z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